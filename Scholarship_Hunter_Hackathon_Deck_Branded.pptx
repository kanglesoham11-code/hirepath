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latin typeface="Aptos"/>
              </a:defRPr>
            </a:pPr>
            <a:r>
              <a:t>Prototype pain severity index (/100)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Severity Index</c:v>
                </c:pt>
              </c:strCache>
            </c:strRef>
          </c:tx>
          <c:spPr>
            <a:solidFill>
              <a:srgbClr val="118DAD"/>
            </a:solidFill>
            <a:ln>
              <a:solidFill>
                <a:srgbClr val="118DAD"/>
              </a:solidFill>
            </a:ln>
          </c:spPr>
          <c:dLbls>
            <c:txPr>
              <a:bodyPr/>
              <a:lstStyle/>
              <a:p>
                <a:pPr>
                  <a:defRPr sz="900" b="1">
                    <a:latin typeface="Apto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Awareness gap</c:v>
                </c:pt>
                <c:pt idx="1">
                  <c:v>Eligibility confusion</c:v>
                </c:pt>
                <c:pt idx="2">
                  <c:v>Essay burden</c:v>
                </c:pt>
                <c:pt idx="3">
                  <c:v>Deadline misses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82</c:v>
                </c:pt>
                <c:pt idx="2">
                  <c:v>76</c:v>
                </c:pt>
                <c:pt idx="3">
                  <c:v>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CBD5E1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latin typeface="Aptos"/>
              </a:defRPr>
            </a:pPr>
            <a:r>
              <a:t>Pilot success targets (% improvement)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lift</c:v>
                </c:pt>
              </c:strCache>
            </c:strRef>
          </c:tx>
          <c:spPr>
            <a:solidFill>
              <a:srgbClr val="188C62"/>
            </a:solidFill>
            <a:ln>
              <a:solidFill>
                <a:srgbClr val="188C62"/>
              </a:solidFill>
            </a:ln>
          </c:spPr>
          <c:dLbls>
            <c:txPr>
              <a:bodyPr/>
              <a:lstStyle/>
              <a:p>
                <a:pPr>
                  <a:defRPr sz="900" b="1">
                    <a:latin typeface="Apto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Eligible matches</c:v>
                </c:pt>
                <c:pt idx="1">
                  <c:v>On-time submissions</c:v>
                </c:pt>
                <c:pt idx="2">
                  <c:v>Drafting speed</c:v>
                </c:pt>
                <c:pt idx="3">
                  <c:v>Advisor visibility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220</c:v>
                </c:pt>
                <c:pt idx="1">
                  <c:v>180</c:v>
                </c:pt>
                <c:pt idx="2">
                  <c:v>70</c:v>
                </c:pt>
                <c:pt idx="3">
                  <c:v>300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0.0"/>
          <c:min val="0.0"/>
        </c:scaling>
        <c:delete val="0"/>
        <c:axPos val="l"/>
        <c:majorGridlines>
          <c:spPr>
            <a:ln>
              <a:solidFill>
                <a:srgbClr val="CBD5E1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Team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A high-confidence, social-impact AI platform designed to convert scholarship opportunity into actual student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011680"/>
            <a:ext cx="6903720" cy="3794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46304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League Spartan"/>
              </a:rPr>
              <a:t>Scholarship Hunter AI</a:t>
            </a:r>
          </a:p>
          <a:p>
            <a:r>
              <a:rPr sz="1600" b="1">
                <a:solidFill>
                  <a:srgbClr val="75C9E0"/>
                </a:solidFill>
                <a:latin typeface="Aptos"/>
              </a:rPr>
              <a:t>AI scholarship discovery, ranking, and application co-pilot for underserved students.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ptos"/>
              </a:rPr>
              <a:t>Mission: ensure that no eligible student loses funding because information is fragmented, hidden, or administratively overwhelming.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ptos"/>
              </a:rPr>
              <a:t>Why this matters: scholarships are often available, but opportunity is not operationalized for the students who need it most.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ptos"/>
              </a:rPr>
              <a:t>Competitive edge: explainable eligibility matching + deadline intelligence + AI drafting support in one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166360"/>
            <a:ext cx="1737360" cy="310896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EdTech +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5166360"/>
            <a:ext cx="2011680" cy="310896"/>
          </a:xfrm>
          <a:prstGeom prst="roundRect">
            <a:avLst/>
          </a:prstGeom>
          <a:solidFill>
            <a:srgbClr val="18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Social Impact First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5166360"/>
            <a:ext cx="2057400" cy="310896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Submission Ready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2011680"/>
            <a:ext cx="379476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League Spartan"/>
              </a:rPr>
              <a:t>Submission Snapshot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Project domain: </a:t>
            </a:r>
            <a:r>
              <a:rPr sz="1100">
                <a:solidFill>
                  <a:srgbClr val="475569"/>
                </a:solidFill>
                <a:latin typeface="Aptos"/>
              </a:rPr>
              <a:t>AI for Education Access and Inclusion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Primary user: </a:t>
            </a:r>
            <a:r>
              <a:rPr sz="1100">
                <a:solidFill>
                  <a:srgbClr val="475569"/>
                </a:solidFill>
                <a:latin typeface="Aptos"/>
              </a:rPr>
              <a:t>Students from low-income and underrepresented backgrounds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Secondary users: </a:t>
            </a:r>
            <a:r>
              <a:rPr sz="1100">
                <a:solidFill>
                  <a:srgbClr val="475569"/>
                </a:solidFill>
                <a:latin typeface="Aptos"/>
              </a:rPr>
              <a:t>Advisors, NGOs, scholarship offices, and institutions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Core promise: </a:t>
            </a:r>
            <a:r>
              <a:rPr sz="1100">
                <a:solidFill>
                  <a:srgbClr val="475569"/>
                </a:solidFill>
                <a:latin typeface="Aptos"/>
              </a:rPr>
              <a:t>Find all relevant scholarships and convert them into completed applications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Team section: </a:t>
            </a:r>
            <a:r>
              <a:rPr sz="1100">
                <a:solidFill>
                  <a:srgbClr val="475569"/>
                </a:solidFill>
                <a:latin typeface="Aptos"/>
              </a:rPr>
              <a:t>Replace with final team name and member names before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Problem Statement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The real issue is not scholarship scarcity alone; it is access friction across discovery, prioritization, and execution.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2057400"/>
            <a:ext cx="5074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0B1F3A"/>
                </a:solidFill>
                <a:latin typeface="League Spartan"/>
              </a:rPr>
              <a:t>Why deserving students lose scholarships today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ptos"/>
              </a:rPr>
              <a:t>1. Scholarship information is scattered across portals, college notices, NGOs, foundations, and PDFs.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ptos"/>
              </a:rPr>
              <a:t>2. Eligibility rules are hard to interpret across income bands, category rules, location, academic filters, and document requirements.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ptos"/>
              </a:rPr>
              <a:t>3. Students often miss deadlines because they manage applications manually across multiple calendars and channels.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ptos"/>
              </a:rPr>
              <a:t>4. Drafting essays, statements of purpose, and supporting content is time-intensive and intimidating for first-generation applicants.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ptos"/>
              </a:rPr>
              <a:t>5. Advisors and institutions lack one live view of student progress, application quality, and risk of drop-off.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89320" y="2148840"/>
          <a:ext cx="51663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ectangle 17"/>
          <p:cNvSpPr/>
          <p:nvPr/>
        </p:nvSpPr>
        <p:spPr>
          <a:xfrm>
            <a:off x="713232" y="4681728"/>
            <a:ext cx="10451592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500" b="1" i="0">
                <a:solidFill>
                  <a:srgbClr val="0B1F3A"/>
                </a:solidFill>
                <a:latin typeface="League Spartan"/>
              </a:rPr>
              <a:t>Student journey friction 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5074920"/>
            <a:ext cx="1371600" cy="493776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Search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57984" y="5321808"/>
            <a:ext cx="274320" cy="0"/>
          </a:xfrm>
          <a:prstGeom prst="line">
            <a:avLst/>
          </a:prstGeom>
          <a:ln w="25400">
            <a:solidFill>
              <a:srgbClr val="F05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523744" y="5074920"/>
            <a:ext cx="1371600" cy="493776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Verify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95344" y="5321808"/>
            <a:ext cx="274320" cy="0"/>
          </a:xfrm>
          <a:prstGeom prst="line">
            <a:avLst/>
          </a:prstGeom>
          <a:ln w="25400">
            <a:solidFill>
              <a:srgbClr val="F05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61104" y="5074920"/>
            <a:ext cx="1371600" cy="493776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Compare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32704" y="5321808"/>
            <a:ext cx="274320" cy="0"/>
          </a:xfrm>
          <a:prstGeom prst="line">
            <a:avLst/>
          </a:prstGeom>
          <a:ln w="25400">
            <a:solidFill>
              <a:srgbClr val="F05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998463" y="5074920"/>
            <a:ext cx="1371600" cy="493776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Draft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70063" y="5321808"/>
            <a:ext cx="274320" cy="0"/>
          </a:xfrm>
          <a:prstGeom prst="line">
            <a:avLst/>
          </a:prstGeom>
          <a:ln w="25400">
            <a:solidFill>
              <a:srgbClr val="F05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35824" y="5074920"/>
            <a:ext cx="1371600" cy="493776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Submit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07424" y="5321808"/>
            <a:ext cx="274320" cy="0"/>
          </a:xfrm>
          <a:prstGeom prst="line">
            <a:avLst/>
          </a:prstGeom>
          <a:ln w="25400">
            <a:solidFill>
              <a:srgbClr val="F05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73184" y="5074920"/>
            <a:ext cx="1371600" cy="493776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Track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5687568"/>
            <a:ext cx="103784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100" b="1" i="0">
                <a:solidFill>
                  <a:srgbClr val="D4433E"/>
                </a:solidFill>
                <a:latin typeface="Aptos"/>
              </a:rPr>
              <a:t>Net result: high-potential students receive fewer high-fit scholarship opportunities and complete fewer applications than they could.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The product is designed to remove friction at every step and make scholarship access measurable, not aspirational.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029968"/>
            <a:ext cx="594360" cy="512064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ague Spartan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2029968"/>
            <a:ext cx="5760720" cy="74980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League Spartan"/>
              </a:rPr>
              <a:t>Discover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Continuously aggregate scholarships from trusted, distributed sources into one searchable opportunity graph.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52928"/>
            <a:ext cx="594360" cy="512064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ague Spartan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2852928"/>
            <a:ext cx="5760720" cy="7498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League Spartan"/>
              </a:rPr>
              <a:t>Match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Map each student profile to scholarship rules with transparent eligibility reasoning and confidence scoring.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75888"/>
            <a:ext cx="594360" cy="512064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ague Spartan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675888"/>
            <a:ext cx="5760720" cy="749808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League Spartan"/>
              </a:rPr>
              <a:t>Prioritize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Rank scholarships by fit, deadline urgency, award value, and completion effort so students know where to act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98848"/>
            <a:ext cx="594360" cy="512064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ague Spartan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4498848"/>
            <a:ext cx="5760720" cy="749808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League Spartan"/>
              </a:rPr>
              <a:t>Assist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Generate first-draft application content, check missing documents, and simplify essay preparation.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21808"/>
            <a:ext cx="594360" cy="512064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ague Spartan"/>
              </a:rPr>
              <a:t>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5321808"/>
            <a:ext cx="5760720" cy="74980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League Spartan"/>
              </a:rPr>
              <a:t>Track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Send deadline reminders, show progress status, and enable advisors to intervene before students drop off.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029968"/>
            <a:ext cx="39319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League Spartan"/>
              </a:rPr>
              <a:t>Success 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2606040"/>
            <a:ext cx="1600200" cy="9144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/>
            <a:r>
              <a:rPr sz="1800" b="1">
                <a:solidFill>
                  <a:srgbClr val="126684"/>
                </a:solidFill>
                <a:latin typeface="League Spartan"/>
              </a:rPr>
              <a:t>85% lower</a:t>
            </a:r>
          </a:p>
          <a:p>
            <a:r>
              <a:rPr sz="1050" b="1">
                <a:solidFill>
                  <a:srgbClr val="1E293B"/>
                </a:solidFill>
                <a:latin typeface="Aptos"/>
              </a:rPr>
              <a:t>Search time</a:t>
            </a:r>
          </a:p>
          <a:p>
            <a:r>
              <a:rPr sz="850">
                <a:solidFill>
                  <a:srgbClr val="475569"/>
                </a:solidFill>
                <a:latin typeface="Aptos"/>
              </a:rPr>
              <a:t>Minutes instead of hours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2606040"/>
            <a:ext cx="1600200" cy="914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/>
            <a:r>
              <a:rPr sz="1800" b="1">
                <a:solidFill>
                  <a:srgbClr val="118DAD"/>
                </a:solidFill>
                <a:latin typeface="League Spartan"/>
              </a:rPr>
              <a:t>2.5x</a:t>
            </a:r>
          </a:p>
          <a:p>
            <a:r>
              <a:rPr sz="1050" b="1">
                <a:solidFill>
                  <a:srgbClr val="1E293B"/>
                </a:solidFill>
                <a:latin typeface="Aptos"/>
              </a:rPr>
              <a:t>Better fit</a:t>
            </a:r>
          </a:p>
          <a:p>
            <a:r>
              <a:rPr sz="850">
                <a:solidFill>
                  <a:srgbClr val="475569"/>
                </a:solidFill>
                <a:latin typeface="Aptos"/>
              </a:rPr>
              <a:t>Transparent ranking + explainability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3657600"/>
            <a:ext cx="1600200" cy="914400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/>
            <a:r>
              <a:rPr sz="1800" b="1">
                <a:solidFill>
                  <a:srgbClr val="D6A63B"/>
                </a:solidFill>
                <a:latin typeface="League Spartan"/>
              </a:rPr>
              <a:t>3x</a:t>
            </a:r>
          </a:p>
          <a:p>
            <a:r>
              <a:rPr sz="1050" b="1">
                <a:solidFill>
                  <a:srgbClr val="1E293B"/>
                </a:solidFill>
                <a:latin typeface="Aptos"/>
              </a:rPr>
              <a:t>More submissions</a:t>
            </a:r>
          </a:p>
          <a:p>
            <a:r>
              <a:rPr sz="850">
                <a:solidFill>
                  <a:srgbClr val="475569"/>
                </a:solidFill>
                <a:latin typeface="Aptos"/>
              </a:rPr>
              <a:t>Draft support + reminders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3657600"/>
            <a:ext cx="1600200" cy="914400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/>
            <a:r>
              <a:rPr sz="1800" b="1">
                <a:solidFill>
                  <a:srgbClr val="F05D5E"/>
                </a:solidFill>
                <a:latin typeface="League Spartan"/>
              </a:rPr>
              <a:t>60%</a:t>
            </a:r>
          </a:p>
          <a:p>
            <a:r>
              <a:rPr sz="1050" b="1">
                <a:solidFill>
                  <a:srgbClr val="1E293B"/>
                </a:solidFill>
                <a:latin typeface="Aptos"/>
              </a:rPr>
              <a:t>Less advisor load</a:t>
            </a:r>
          </a:p>
          <a:p>
            <a:r>
              <a:rPr sz="850">
                <a:solidFill>
                  <a:srgbClr val="475569"/>
                </a:solidFill>
                <a:latin typeface="Aptos"/>
              </a:rPr>
              <a:t>Shared progress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4800600"/>
            <a:ext cx="365760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100" b="1" i="0">
                <a:solidFill>
                  <a:srgbClr val="0B1F3A"/>
                </a:solidFill>
                <a:latin typeface="Aptos"/>
              </a:rPr>
              <a:t>North star: every student receives a prioritized scholarship action plan with reasons, deadlines, and a guided next 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Proposed 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A unified intelligence layer that turns a student profile into ranked scholarships, guided applications, and real-time progress.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084831"/>
            <a:ext cx="1828800" cy="1143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1. Student Intake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Profile, marks, category, income, documents, interests, goals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4368" y="2084831"/>
            <a:ext cx="1828800" cy="11430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2. Scholarship Data Hub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Scholarship listings, PDFs, notices, historical deadlines, policy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084831"/>
            <a:ext cx="1828800" cy="1143000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3. Eligibility Engine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Rule filters + semantic matching + explainable fit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2084831"/>
            <a:ext cx="1828800" cy="1143000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4. Priority Engine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Ranks by fit, award size, urgency, effort, and success probability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3822191"/>
            <a:ext cx="1828800" cy="1143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5. Application Copilot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Drafts essays, flags missing documents, improves clarity, tone, and personalization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0448" y="3822191"/>
            <a:ext cx="1828800" cy="11430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6. Deadline + Advisor Loop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Calendar sync, nudges, advisor dashboard, drop-off alerts, status tracking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06040" y="2651760"/>
            <a:ext cx="301752" cy="0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82312" y="2651760"/>
            <a:ext cx="301752" cy="0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58584" y="2651760"/>
            <a:ext cx="301752" cy="0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803136" y="3236976"/>
            <a:ext cx="1408176" cy="530352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788920" y="3236976"/>
            <a:ext cx="941832" cy="530352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30752" y="4389120"/>
            <a:ext cx="2103120" cy="0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08592" y="3685032"/>
            <a:ext cx="1920240" cy="12801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League Spartan"/>
              </a:rPr>
              <a:t>Key Differentiators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FFFFF"/>
                </a:solidFill>
                <a:latin typeface="Aptos"/>
              </a:rPr>
              <a:t>Explainable scholarship ranking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FFFFF"/>
                </a:solidFill>
                <a:latin typeface="Aptos"/>
              </a:rPr>
              <a:t>Deadline intelligence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FFFFF"/>
                </a:solidFill>
                <a:latin typeface="Aptos"/>
              </a:rPr>
              <a:t>AI-assisted drafting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FFFFF"/>
                </a:solidFill>
                <a:latin typeface="Aptos"/>
              </a:rPr>
              <a:t>Advisor intervention triggers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257800"/>
            <a:ext cx="10195560" cy="594360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200" b="1" i="0">
                <a:solidFill>
                  <a:srgbClr val="0B1F3A"/>
                </a:solidFill>
                <a:latin typeface="Aptos"/>
              </a:rPr>
              <a:t>Outcome: instead of students doing fragmented search and manual comparison, the platform creates a guided scholarship execution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Tech Stack &amp;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A modular architecture built for low-cost deployment, explainability, and extension into institutional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011680"/>
            <a:ext cx="7589520" cy="74980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" y="2103120"/>
            <a:ext cx="1965960" cy="292608"/>
          </a:xfrm>
          <a:prstGeom prst="roundRect">
            <a:avLst/>
          </a:prstGeom>
          <a:solidFill>
            <a:srgbClr val="118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eague Spartan"/>
              </a:rPr>
              <a:t>Experience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" y="2468880"/>
            <a:ext cx="7205472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Student web dashboard | Scholarship planner | Essay workspace | Accessibility-first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52928"/>
            <a:ext cx="7589520" cy="8229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2944368"/>
            <a:ext cx="1965960" cy="292608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eague Spartan"/>
              </a:rPr>
              <a:t>Application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" y="3310128"/>
            <a:ext cx="7205472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FastAPI APIs | Authentication | Advisor console | Notification service | File/document handling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7589520" cy="960120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" y="3858768"/>
            <a:ext cx="1965960" cy="292608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eague Spartan"/>
              </a:rPr>
              <a:t>Intelligence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" y="4224528"/>
            <a:ext cx="7205472" cy="3931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Eligibility rule engine | Semantic retrieval | Ranking model | LLM drafting copilot | Explainability module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7589520" cy="960120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6968" y="4892040"/>
            <a:ext cx="1965960" cy="292608"/>
          </a:xfrm>
          <a:prstGeom prst="roundRect">
            <a:avLst/>
          </a:prstGeom>
          <a:solidFill>
            <a:srgbClr val="F05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eague Spartan"/>
              </a:rPr>
              <a:t>Data &amp; Integrations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" y="5257800"/>
            <a:ext cx="7205472" cy="3931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PostgreSQL + student/application data | Vector store for scholarship content | APScheduler reminders | PDF/OCR parsers | Portal/API connectors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2011680"/>
            <a:ext cx="26974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A"/>
                </a:solidFill>
                <a:latin typeface="League Spartan"/>
              </a:rPr>
              <a:t>Suggested Stack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Frontend: React / Next.js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Backend: FastAPI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Data: PostgreSQL + vector DB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Agents: LangGraph-style orchestration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Parsing: PDF/OCR extractors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Scheduling: APScheduler / queues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Trust: RBAC, audit logs, PII encryption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5120640"/>
            <a:ext cx="2514600" cy="5029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0B1F3A"/>
                </a:solidFill>
                <a:latin typeface="Aptos"/>
              </a:rPr>
              <a:t>Design principles: low-cost, explainable, multilingual, advisor-friendly.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Feasibility &amp; Viability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This solution is practical to build, easy to pilot, and capable of sustainable institutional adoption.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1993392"/>
            <a:ext cx="4983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600" b="1" i="0">
                <a:solidFill>
                  <a:srgbClr val="0B1F3A"/>
                </a:solidFill>
                <a:latin typeface="League Spartan"/>
              </a:rPr>
              <a:t>Feasibility Matrix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43000" y="5166360"/>
            <a:ext cx="425196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43000" y="2423160"/>
            <a:ext cx="0" cy="274320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743200" y="5230368"/>
            <a:ext cx="21031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900" b="0" i="0">
                <a:solidFill>
                  <a:srgbClr val="64748B"/>
                </a:solidFill>
                <a:latin typeface="Aptos"/>
              </a:rPr>
              <a:t>Higher build complexity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383280"/>
            <a:ext cx="7315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900" b="0" i="0">
                <a:solidFill>
                  <a:srgbClr val="64748B"/>
                </a:solidFill>
                <a:latin typeface="Aptos"/>
              </a:rPr>
              <a:t>Higher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2834640"/>
            <a:ext cx="1417320" cy="420624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1E293B"/>
                </a:solidFill>
                <a:latin typeface="Aptos"/>
              </a:rPr>
              <a:t>Eligibility matching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3977639"/>
            <a:ext cx="1417320" cy="420624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1E293B"/>
                </a:solidFill>
                <a:latin typeface="Aptos"/>
              </a:rPr>
              <a:t>Deadline reminders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3063240"/>
            <a:ext cx="1417320" cy="420624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1E293B"/>
                </a:solidFill>
                <a:latin typeface="Aptos"/>
              </a:rPr>
              <a:t>Essay copilot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4206240"/>
            <a:ext cx="1417320" cy="420624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1E293B"/>
                </a:solidFill>
                <a:latin typeface="Aptos"/>
              </a:rPr>
              <a:t>Advisor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5440680"/>
            <a:ext cx="51206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9144" bIns="9144"/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75569"/>
                </a:solidFill>
                <a:latin typeface="Aptos"/>
              </a:rPr>
              <a:t>Build confidence: all core components already exist in production-ready ecosystems: web scraping/connectors, rule engines, vector search, LLM drafting, notification workflows, and advisor dashboards.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1993392"/>
            <a:ext cx="510235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League Spartan"/>
              </a:rPr>
              <a:t>Viability Story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Pilot path: </a:t>
            </a:r>
            <a:r>
              <a:rPr sz="1100">
                <a:solidFill>
                  <a:srgbClr val="475569"/>
                </a:solidFill>
                <a:latin typeface="Aptos"/>
              </a:rPr>
              <a:t>Start with one college or NGO partner, onboard students, validate scholarship coverage and completion lift in a single cycle.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Go-to-market: </a:t>
            </a:r>
            <a:r>
              <a:rPr sz="1100">
                <a:solidFill>
                  <a:srgbClr val="475569"/>
                </a:solidFill>
                <a:latin typeface="Aptos"/>
              </a:rPr>
              <a:t>B2B2C model for institutions, CSR foundations, scholarship offices, and nonprofits serving first-generation learners.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Sustainability: </a:t>
            </a:r>
            <a:r>
              <a:rPr sz="1100">
                <a:solidFill>
                  <a:srgbClr val="475569"/>
                </a:solidFill>
                <a:latin typeface="Aptos"/>
              </a:rPr>
              <a:t>Low marginal cost per additional student because ingestion, matching, reminders, and first-draft support are automated.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Trust model: </a:t>
            </a:r>
            <a:r>
              <a:rPr sz="1100">
                <a:solidFill>
                  <a:srgbClr val="475569"/>
                </a:solidFill>
                <a:latin typeface="Aptos"/>
              </a:rPr>
              <a:t>Human-in-the-loop review for sensitive applications, transparent reasoning for rankings, and permissioned data sharing.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285232"/>
            <a:ext cx="1463040" cy="292608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0-6 weeks MVP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3568" y="5285232"/>
            <a:ext cx="1645920" cy="292608"/>
          </a:xfrm>
          <a:prstGeom prst="roundRect">
            <a:avLst/>
          </a:prstGeom>
          <a:solidFill>
            <a:srgbClr val="118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6-12 weeks pilot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8" y="5285232"/>
            <a:ext cx="1188720" cy="292608"/>
          </a:xfrm>
          <a:prstGeom prst="roundRect">
            <a:avLst/>
          </a:prstGeom>
          <a:solidFill>
            <a:srgbClr val="18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Impact &amp; Benefits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The solution creates educational mobility by making high-fit scholarship opportunities visible, actionable, and completable.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1993392"/>
            <a:ext cx="493776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League Spartan"/>
              </a:rPr>
              <a:t>Stakeholder Benefits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Students: </a:t>
            </a:r>
            <a:r>
              <a:rPr sz="1100">
                <a:solidFill>
                  <a:srgbClr val="475569"/>
                </a:solidFill>
                <a:latin typeface="Aptos"/>
              </a:rPr>
              <a:t>Personalized scholarship plans, less search fatigue, stronger applications, better funding access.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Advisors: </a:t>
            </a:r>
            <a:r>
              <a:rPr sz="1100">
                <a:solidFill>
                  <a:srgbClr val="475569"/>
                </a:solidFill>
                <a:latin typeface="Aptos"/>
              </a:rPr>
              <a:t>A live dashboard for follow-up, deadline risk detection, and application completion visibility.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Institutions: </a:t>
            </a:r>
            <a:r>
              <a:rPr sz="1100">
                <a:solidFill>
                  <a:srgbClr val="475569"/>
                </a:solidFill>
                <a:latin typeface="Aptos"/>
              </a:rPr>
              <a:t>Higher scholarship utilization, stronger student success metrics, and structured support data.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Scholarship providers: </a:t>
            </a:r>
            <a:r>
              <a:rPr sz="1100">
                <a:solidFill>
                  <a:srgbClr val="475569"/>
                </a:solidFill>
                <a:latin typeface="Aptos"/>
              </a:rPr>
              <a:t>Better applicant quality, improved targeting, and broader reach into deserving communities.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897880" y="2084831"/>
          <a:ext cx="493776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016752" y="4736592"/>
            <a:ext cx="4681728" cy="5943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50" b="0" i="0">
                <a:solidFill>
                  <a:srgbClr val="475569"/>
                </a:solidFill>
                <a:latin typeface="Aptos"/>
              </a:rPr>
              <a:t>These are pilot success targets to demonstrate measurable value during initial deployment.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440680"/>
            <a:ext cx="1417320" cy="310896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SDG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5440680"/>
            <a:ext cx="1554480" cy="310896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SDG 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5394960"/>
            <a:ext cx="1325880" cy="320040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0B1F3A"/>
                </a:solidFill>
                <a:latin typeface="Aptos"/>
              </a:rPr>
              <a:t>Equity by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961888"/>
            <a:ext cx="100584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100" b="1" i="0">
                <a:solidFill>
                  <a:srgbClr val="0B1F3A"/>
                </a:solidFill>
                <a:latin typeface="Aptos"/>
              </a:rPr>
              <a:t>Final impact message: we do not just help students find scholarships; we build a system that operationalizes opportunity.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Thank You!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Built for access, trust, and measurable educational mobility.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2057400"/>
            <a:ext cx="10698480" cy="3749039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3200" b="1">
                <a:solidFill>
                  <a:srgbClr val="FFFFFF"/>
                </a:solidFill>
                <a:latin typeface="League Spartan"/>
              </a:rPr>
              <a:t>Scholarship Hunter AI</a:t>
            </a:r>
          </a:p>
          <a:p>
            <a:pPr algn="ctr"/>
            <a:r>
              <a:rPr sz="1600" b="1">
                <a:solidFill>
                  <a:srgbClr val="75C9E0"/>
                </a:solidFill>
                <a:latin typeface="Aptos"/>
              </a:rPr>
              <a:t>Turning hidden scholarships into guided opportunities for every deserving student.</a:t>
            </a:r>
          </a:p>
          <a:p>
            <a:pPr algn="ctr">
              <a:spcBef>
                <a:spcPts val="1800"/>
              </a:spcBef>
            </a:pPr>
            <a:r>
              <a:rPr sz="1800">
                <a:solidFill>
                  <a:srgbClr val="FFFFFF"/>
                </a:solidFill>
                <a:latin typeface="Aptos"/>
              </a:rPr>
              <a:t>Questions | Demo | Pilot Collaboration</a:t>
            </a:r>
          </a:p>
          <a:p>
            <a:pPr algn="ctr">
              <a:spcBef>
                <a:spcPts val="1800"/>
              </a:spcBef>
            </a:pPr>
            <a:r>
              <a:rPr sz="1100">
                <a:solidFill>
                  <a:srgbClr val="75C9E0"/>
                </a:solidFill>
                <a:latin typeface="Aptos"/>
              </a:rPr>
              <a:t>Update this slide with your final team contact or QR code if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